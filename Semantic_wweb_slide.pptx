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25281e5-d264-5fb9-a086-6de9cf7af21b}">
          <p14:sldIdLst>
            <p14:sldId id="256"/>
            <p14:sldId id="257"/>
          </p14:sldIdLst>
        </p14:section>
        <p14:section name="1. Introduction" id="{96171ae6-d902-08d0-95ac-18a7f13fb09a}">
          <p14:sldIdLst>
            <p14:sldId id="258"/>
            <p14:sldId id="259"/>
            <p14:sldId id="260"/>
          </p14:sldIdLst>
        </p14:section>
        <p14:section name="2. Data Collection and Transformation" id="{e66d58be-8ad5-8ef5-6ce6-bead4ed2a5bc}">
          <p14:sldIdLst>
            <p14:sldId id="261"/>
            <p14:sldId id="262"/>
            <p14:sldId id="263"/>
            <p14:sldId id="264"/>
          </p14:sldIdLst>
        </p14:section>
        <p14:section name="3. Linking to External Datasets" id="{708ab89f-04e6-0551-9471-dbbce922e0dd}">
          <p14:sldIdLst>
            <p14:sldId id="265"/>
          </p14:sldIdLst>
        </p14:section>
        <p14:section name="4. Publishing a SPARQL Endpoint" id="{fcc4f81c-2dd9-260c-fc24-f54ae8c29255}">
          <p14:sldIdLst>
            <p14:sldId id="266"/>
          </p14:sldIdLst>
        </p14:section>
        <p14:section name="5. Conclusion" id="{3bf100b4-ed38-d214-8905-52888d5c209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40"/>
                </a:solidFill>
                <a:latin typeface="+mn-lt"/>
              </a:rPr>
              <a:t>External-link coverage in the saved snapshot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0B7F7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Movies → Wikidata</c:v>
                  </c:pt>
                  <c:pt idx="1">
                    <c:v>People profile data</c:v>
                  </c:pt>
                  <c:pt idx="2">
                    <c:v>People → Wikidata</c:v>
                  </c:pt>
                  <c:pt idx="3">
                    <c:v>Genres → Wikidata</c:v>
                  </c:pt>
                  <c:pt idx="4">
                    <c:v>People with images</c:v>
                  </c:pt>
                  <c:pt idx="5">
                    <c:v>Movies → DBpedia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99.67</c:v>
                </c:pt>
                <c:pt idx="2">
                  <c:v>91.35</c:v>
                </c:pt>
                <c:pt idx="3">
                  <c:v>86.36</c:v>
                </c:pt>
                <c:pt idx="4">
                  <c:v>69.13</c:v>
                </c:pt>
                <c:pt idx="5">
                  <c:v>2.38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 CineGraph: đồ thị tri thức phim tích hợp từ IMDb, Kaggle và OMDb, liên kết Wikidata/DBpedia và công bố qua SPARQL.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theo 5 phần của báo cáo: Introduction, Data Collection and Transformation, Linking, SPARQL endpoint,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Dữ liệu phim phân tán, tiêu đề không đáng tin làm khóa nên tích hợp theo IMDb ID. Catalog giữ 3.651 phim từ 4.671 ứng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Ontology có 7 lớp. Actor và Director là lớp con của Person, không khai báo rời nhau: 178 người vừa là diễn viên vừa là đạo diễn.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thuộc tính chính (object và datatype). Ràng buộc số lượng kiểm bằng SHACL, không dùng OWL cardinality. Từ vựng cục bộ song song với Schema.org.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nguồn có một vai trò riêng; việc hòa giải được thực hiện theo từng trường vì tương thích định dạng chưa quyết định nguồn nào cung cấp giá trị.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Catalog cuối C = I giao K giao O. Giữ 3.651 trên 4.671 ứng viên, loại 1.020, tỉ lệ giữ 78,16%.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Hợp nhất theo mức ưu tiên từng trường: IMDb, Kaggle, OMDb. Nút FieldProvenance ghi nguồn của từng trường, ví dụ phim Inception.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Đồ thị cuối cùng gồm 645.850 triples, kiểm bằng SHACL với suy luận tắt, kết quả 0 vi phạm. Kết quả chỉ chứng minh đáp ứng các ràng buộc đã mã hóa.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Liên kết owl:sameAs dùng định danh ổn định. Wikidata phủ 100% phim; DBpedia chỉ 87 phim; 12.336/13.504 người có TMDB ID được liên kết Wikidata.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 Flask /sparql nạp đồ thị bằng RDFLib, chỉ cho SELECT. Chạy cục bộ tại 127.0.0.1:5000, chưa phải dịch vụ công khai.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kết: quy trình Semantic Web đầy đủ cho dữ liệu phim. Hạn chế: bộ lọc độ phổ biến, yêu cầu có đủ ba nguồn, triển khai cục bộ. Hướng phát triển: URI bền vững và endpoint công khai.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thầy và các bạn đã lắng nghe. Sẵn sàng trả lời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74520"/>
            <a:ext cx="58521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</a:rPr>
              <a:t>CineGraph  ·  Web Semantics  ·  SoICT – HUST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234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WEB SEMANTICS  ·  PROJECT REPORT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7452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CineGraph</a:t>
            </a:r>
            <a:endParaRPr lang="en-US" sz="6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063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Linked Data for Films</a:t>
            </a:r>
            <a:endParaRPr lang="en-US" sz="3000" dirty="0"/>
          </a:p>
        </p:txBody>
      </p:sp>
      <p:sp>
        <p:nvSpPr>
          <p:cNvPr id="5" name="Tagline"/>
          <p:cNvSpPr txBox="1"/>
          <p:nvPr/>
        </p:nvSpPr>
        <p:spPr>
          <a:xfrm>
            <a:off x="640080" y="3657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Semantic Movie Catalog and Knowledge Graph</a:t>
            </a:r>
            <a:endParaRPr lang="en-US" sz="1800" dirty="0"/>
          </a:p>
        </p:txBody>
      </p:sp>
      <p:sp>
        <p:nvSpPr>
          <p:cNvPr id="6" name="Team"/>
          <p:cNvSpPr txBox="1"/>
          <p:nvPr/>
        </p:nvSpPr>
        <p:spPr>
          <a:xfrm>
            <a:off x="640080" y="43891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Bui Tien Dung  ·  20261204M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Pham Tuan Kiet  ·  20252751M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Luong Minh Duong  ·  20251038M</a:t>
            </a:r>
            <a:endParaRPr lang="en-US" sz="1600" dirty="0"/>
          </a:p>
        </p:txBody>
      </p:sp>
      <p:sp>
        <p:nvSpPr>
          <p:cNvPr id="7" name="Affiliation"/>
          <p:cNvSpPr txBox="1"/>
          <p:nvPr/>
        </p:nvSpPr>
        <p:spPr>
          <a:xfrm>
            <a:off x="640080" y="54864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Instructor: PhD. Do Ba Lam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SoICT, Hanoi University of Science and Technology  ·  October 7, 2026</a:t>
            </a:r>
            <a:endParaRPr lang="en-US" sz="1400" dirty="0"/>
          </a:p>
        </p:txBody>
      </p:sp>
      <p:sp>
        <p:nvSpPr>
          <p:cNvPr id="8" name="Graph backdrop"/>
          <p:cNvSpPr/>
          <p:nvPr/>
        </p:nvSpPr>
        <p:spPr>
          <a:xfrm>
            <a:off x="6858000" y="868680"/>
            <a:ext cx="5120640" cy="51206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9418320" y="1325880"/>
            <a:ext cx="0" cy="210312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18320" y="2779100"/>
            <a:ext cx="2000186" cy="64990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0" y="3429000"/>
            <a:ext cx="1236183" cy="170146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8182137" y="3429000"/>
            <a:ext cx="1236183" cy="170146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7418134" y="2779100"/>
            <a:ext cx="2000186" cy="64990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4" name="Node Actor"/>
          <p:cNvSpPr txBox="1"/>
          <p:nvPr/>
        </p:nvSpPr>
        <p:spPr>
          <a:xfrm>
            <a:off x="8846820" y="754380"/>
            <a:ext cx="1143000" cy="11430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Actor</a:t>
            </a:r>
            <a:endParaRPr lang="en-US" sz="1400" dirty="0"/>
          </a:p>
        </p:txBody>
      </p:sp>
      <p:sp>
        <p:nvSpPr>
          <p:cNvPr id="15" name="Node Director"/>
          <p:cNvSpPr txBox="1"/>
          <p:nvPr/>
        </p:nvSpPr>
        <p:spPr>
          <a:xfrm>
            <a:off x="10847006" y="2207600"/>
            <a:ext cx="1143000" cy="11430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Director</a:t>
            </a:r>
            <a:endParaRPr lang="en-US" sz="1400" dirty="0"/>
          </a:p>
        </p:txBody>
      </p:sp>
      <p:sp>
        <p:nvSpPr>
          <p:cNvPr id="16" name="Node Genre"/>
          <p:cNvSpPr txBox="1"/>
          <p:nvPr/>
        </p:nvSpPr>
        <p:spPr>
          <a:xfrm>
            <a:off x="10083003" y="4558960"/>
            <a:ext cx="1143000" cy="11430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Genre</a:t>
            </a:r>
            <a:endParaRPr lang="en-US" sz="1400" dirty="0"/>
          </a:p>
        </p:txBody>
      </p:sp>
      <p:sp>
        <p:nvSpPr>
          <p:cNvPr id="17" name="Node Wikidata"/>
          <p:cNvSpPr txBox="1"/>
          <p:nvPr/>
        </p:nvSpPr>
        <p:spPr>
          <a:xfrm>
            <a:off x="7610637" y="4558960"/>
            <a:ext cx="1143000" cy="11430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Wikidata</a:t>
            </a:r>
            <a:endParaRPr lang="en-US" sz="1400" dirty="0"/>
          </a:p>
        </p:txBody>
      </p:sp>
      <p:sp>
        <p:nvSpPr>
          <p:cNvPr id="18" name="Node Rating"/>
          <p:cNvSpPr txBox="1"/>
          <p:nvPr/>
        </p:nvSpPr>
        <p:spPr>
          <a:xfrm>
            <a:off x="6846634" y="2207600"/>
            <a:ext cx="1143000" cy="11430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Rating</a:t>
            </a:r>
            <a:endParaRPr lang="en-US" sz="1400" dirty="0"/>
          </a:p>
        </p:txBody>
      </p:sp>
      <p:sp>
        <p:nvSpPr>
          <p:cNvPr id="19" name="Movie node"/>
          <p:cNvSpPr/>
          <p:nvPr/>
        </p:nvSpPr>
        <p:spPr>
          <a:xfrm>
            <a:off x="8641080" y="2651760"/>
            <a:ext cx="1554480" cy="155448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pic>
        <p:nvPicPr>
          <p:cNvPr id="20" name="Image 0" descr="Fil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0632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Outline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Five parts of the CineGraph report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Outline row 1"/>
          <p:cNvSpPr/>
          <p:nvPr/>
        </p:nvSpPr>
        <p:spPr>
          <a:xfrm>
            <a:off x="548640" y="16459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9" name="Outline number 1"/>
          <p:cNvSpPr txBox="1"/>
          <p:nvPr/>
        </p:nvSpPr>
        <p:spPr>
          <a:xfrm>
            <a:off x="777240" y="176479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Outline title 1"/>
          <p:cNvSpPr txBox="1"/>
          <p:nvPr/>
        </p:nvSpPr>
        <p:spPr>
          <a:xfrm>
            <a:off x="1600200" y="1755648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11" name="Outline description 1"/>
          <p:cNvSpPr txBox="1"/>
          <p:nvPr/>
        </p:nvSpPr>
        <p:spPr>
          <a:xfrm>
            <a:off x="6675120" y="175564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Ontology: classes, roles, properties, vocabulary reuse</a:t>
            </a:r>
            <a:endParaRPr lang="en-US" sz="1500" dirty="0"/>
          </a:p>
        </p:txBody>
      </p:sp>
      <p:sp>
        <p:nvSpPr>
          <p:cNvPr id="12" name="Outline row 2"/>
          <p:cNvSpPr/>
          <p:nvPr/>
        </p:nvSpPr>
        <p:spPr>
          <a:xfrm>
            <a:off x="548640" y="257860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3" name="Outline number 2"/>
          <p:cNvSpPr txBox="1"/>
          <p:nvPr/>
        </p:nvSpPr>
        <p:spPr>
          <a:xfrm>
            <a:off x="777240" y="26974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Outline title 2"/>
          <p:cNvSpPr txBox="1"/>
          <p:nvPr/>
        </p:nvSpPr>
        <p:spPr>
          <a:xfrm>
            <a:off x="1600200" y="2688336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Collection and Transformation</a:t>
            </a:r>
            <a:endParaRPr lang="en-US" sz="2000" dirty="0"/>
          </a:p>
        </p:txBody>
      </p:sp>
      <p:sp>
        <p:nvSpPr>
          <p:cNvPr id="15" name="Outline description 2"/>
          <p:cNvSpPr txBox="1"/>
          <p:nvPr/>
        </p:nvSpPr>
        <p:spPr>
          <a:xfrm>
            <a:off x="6675120" y="2688336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IMDb, Kaggle and OMDb pipeline, reconciliation, SHACL audit</a:t>
            </a:r>
            <a:endParaRPr lang="en-US" sz="1500" dirty="0"/>
          </a:p>
        </p:txBody>
      </p:sp>
      <p:sp>
        <p:nvSpPr>
          <p:cNvPr id="16" name="Outline row 3"/>
          <p:cNvSpPr/>
          <p:nvPr/>
        </p:nvSpPr>
        <p:spPr>
          <a:xfrm>
            <a:off x="548640" y="351129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7" name="Outline number 3"/>
          <p:cNvSpPr txBox="1"/>
          <p:nvPr/>
        </p:nvSpPr>
        <p:spPr>
          <a:xfrm>
            <a:off x="777240" y="363016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Outline title 3"/>
          <p:cNvSpPr txBox="1"/>
          <p:nvPr/>
        </p:nvSpPr>
        <p:spPr>
          <a:xfrm>
            <a:off x="1600200" y="3621024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Linking to External Datasets</a:t>
            </a:r>
            <a:endParaRPr lang="en-US" sz="2000" dirty="0"/>
          </a:p>
        </p:txBody>
      </p:sp>
      <p:sp>
        <p:nvSpPr>
          <p:cNvPr id="19" name="Outline description 3"/>
          <p:cNvSpPr txBox="1"/>
          <p:nvPr/>
        </p:nvSpPr>
        <p:spPr>
          <a:xfrm>
            <a:off x="6675120" y="362102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Wikidata and DBpedia identity links</a:t>
            </a:r>
            <a:endParaRPr lang="en-US" sz="1500" dirty="0"/>
          </a:p>
        </p:txBody>
      </p:sp>
      <p:sp>
        <p:nvSpPr>
          <p:cNvPr id="20" name="Outline row 4"/>
          <p:cNvSpPr/>
          <p:nvPr/>
        </p:nvSpPr>
        <p:spPr>
          <a:xfrm>
            <a:off x="548640" y="444398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1" name="Outline number 4"/>
          <p:cNvSpPr txBox="1"/>
          <p:nvPr/>
        </p:nvSpPr>
        <p:spPr>
          <a:xfrm>
            <a:off x="777240" y="456285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Outline title 4"/>
          <p:cNvSpPr txBox="1"/>
          <p:nvPr/>
        </p:nvSpPr>
        <p:spPr>
          <a:xfrm>
            <a:off x="1600200" y="4553712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Publishing a SPARQL Endpoint</a:t>
            </a:r>
            <a:endParaRPr lang="en-US" sz="2000" dirty="0"/>
          </a:p>
        </p:txBody>
      </p:sp>
      <p:sp>
        <p:nvSpPr>
          <p:cNvPr id="23" name="Outline description 4"/>
          <p:cNvSpPr txBox="1"/>
          <p:nvPr/>
        </p:nvSpPr>
        <p:spPr>
          <a:xfrm>
            <a:off x="6675120" y="4553712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Querying the knowledge graph</a:t>
            </a:r>
            <a:endParaRPr lang="en-US" sz="1500" dirty="0"/>
          </a:p>
        </p:txBody>
      </p:sp>
      <p:sp>
        <p:nvSpPr>
          <p:cNvPr id="24" name="Outline row 5"/>
          <p:cNvSpPr/>
          <p:nvPr/>
        </p:nvSpPr>
        <p:spPr>
          <a:xfrm>
            <a:off x="548640" y="537667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5" name="Outline number 5"/>
          <p:cNvSpPr txBox="1"/>
          <p:nvPr/>
        </p:nvSpPr>
        <p:spPr>
          <a:xfrm>
            <a:off x="777240" y="549554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Outline title 5"/>
          <p:cNvSpPr txBox="1"/>
          <p:nvPr/>
        </p:nvSpPr>
        <p:spPr>
          <a:xfrm>
            <a:off x="1600200" y="5486400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27" name="Outline description 5"/>
          <p:cNvSpPr txBox="1"/>
          <p:nvPr/>
        </p:nvSpPr>
        <p:spPr>
          <a:xfrm>
            <a:off x="6675120" y="548640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Results, limitations and future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1. Introduction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Scattered film data, one knowledge graph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Fragmented sources icon circle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Fragmented sou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885950"/>
            <a:ext cx="388620" cy="388620"/>
          </a:xfrm>
          <a:prstGeom prst="rect">
            <a:avLst/>
          </a:prstGeom>
        </p:spPr>
      </p:pic>
      <p:sp>
        <p:nvSpPr>
          <p:cNvPr id="10" name="Point title 1"/>
          <p:cNvSpPr txBox="1"/>
          <p:nvPr/>
        </p:nvSpPr>
        <p:spPr>
          <a:xfrm>
            <a:off x="160020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Fragmented sources</a:t>
            </a:r>
            <a:endParaRPr lang="en-US" sz="1800" dirty="0"/>
          </a:p>
        </p:txBody>
      </p:sp>
      <p:sp>
        <p:nvSpPr>
          <p:cNvPr id="11" name="Point text 1"/>
          <p:cNvSpPr txBox="1"/>
          <p:nvPr/>
        </p:nvSpPr>
        <p:spPr>
          <a:xfrm>
            <a:off x="160020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Catalogs, CSV dumps, APIs and knowledge bases describe overlapping films in different formats.</a:t>
            </a:r>
            <a:endParaRPr lang="en-US" sz="1500" dirty="0"/>
          </a:p>
        </p:txBody>
      </p:sp>
      <p:sp>
        <p:nvSpPr>
          <p:cNvPr id="12" name="Titles are unreliable identifiers icon circle"/>
          <p:cNvSpPr/>
          <p:nvPr/>
        </p:nvSpPr>
        <p:spPr>
          <a:xfrm>
            <a:off x="548640" y="31546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Titles are unreliable identifi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348990"/>
            <a:ext cx="388620" cy="388620"/>
          </a:xfrm>
          <a:prstGeom prst="rect">
            <a:avLst/>
          </a:prstGeom>
        </p:spPr>
      </p:pic>
      <p:sp>
        <p:nvSpPr>
          <p:cNvPr id="14" name="Point title 2"/>
          <p:cNvSpPr txBox="1"/>
          <p:nvPr/>
        </p:nvSpPr>
        <p:spPr>
          <a:xfrm>
            <a:off x="16002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Titles are unreliable identifiers</a:t>
            </a:r>
            <a:endParaRPr lang="en-US" sz="1800" dirty="0"/>
          </a:p>
        </p:txBody>
      </p:sp>
      <p:sp>
        <p:nvSpPr>
          <p:cNvPr id="15" name="Point text 2"/>
          <p:cNvSpPr txBox="1"/>
          <p:nvPr/>
        </p:nvSpPr>
        <p:spPr>
          <a:xfrm>
            <a:off x="1600200" y="3520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Remakes, localized names and spelling variants can point to distinct works.</a:t>
            </a:r>
            <a:endParaRPr lang="en-US" sz="1500" dirty="0"/>
          </a:p>
        </p:txBody>
      </p:sp>
      <p:sp>
        <p:nvSpPr>
          <p:cNvPr id="16" name="Integrate by IMDb ID icon circle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Integrate by IMDb 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812030"/>
            <a:ext cx="388620" cy="388620"/>
          </a:xfrm>
          <a:prstGeom prst="rect">
            <a:avLst/>
          </a:prstGeom>
        </p:spPr>
      </p:pic>
      <p:sp>
        <p:nvSpPr>
          <p:cNvPr id="18" name="Point title 3"/>
          <p:cNvSpPr txBox="1"/>
          <p:nvPr/>
        </p:nvSpPr>
        <p:spPr>
          <a:xfrm>
            <a:off x="160020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Integrate by IMDb ID</a:t>
            </a:r>
            <a:endParaRPr lang="en-US" sz="1800" dirty="0"/>
          </a:p>
        </p:txBody>
      </p:sp>
      <p:sp>
        <p:nvSpPr>
          <p:cNvPr id="19" name="Point text 3"/>
          <p:cNvSpPr txBox="1"/>
          <p:nvPr/>
        </p:nvSpPr>
        <p:spPr>
          <a:xfrm>
            <a:off x="1600200" y="4983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Reconcile IMDb, Kaggle and OMDb records field by field into one RDF knowledge graph.</a:t>
            </a:r>
            <a:endParaRPr lang="en-US" sz="1500" dirty="0"/>
          </a:p>
        </p:txBody>
      </p:sp>
      <p:sp>
        <p:nvSpPr>
          <p:cNvPr id="20" name="Catalog stat card"/>
          <p:cNvSpPr/>
          <p:nvPr/>
        </p:nvSpPr>
        <p:spPr>
          <a:xfrm>
            <a:off x="6949440" y="1645920"/>
            <a:ext cx="466344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21" name="Stat label"/>
          <p:cNvSpPr txBox="1"/>
          <p:nvPr/>
        </p:nvSpPr>
        <p:spPr>
          <a:xfrm>
            <a:off x="731520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RETAINED CATALOG</a:t>
            </a:r>
            <a:endParaRPr lang="en-US" sz="1300" dirty="0"/>
          </a:p>
        </p:txBody>
      </p:sp>
      <p:sp>
        <p:nvSpPr>
          <p:cNvPr id="22" name="Stat number"/>
          <p:cNvSpPr txBox="1"/>
          <p:nvPr/>
        </p:nvSpPr>
        <p:spPr>
          <a:xfrm>
            <a:off x="7315200" y="2286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3,651</a:t>
            </a:r>
            <a:endParaRPr lang="en-US" sz="8000" dirty="0"/>
          </a:p>
        </p:txBody>
      </p:sp>
      <p:sp>
        <p:nvSpPr>
          <p:cNvPr id="23" name="Stat text"/>
          <p:cNvSpPr txBox="1"/>
          <p:nvPr/>
        </p:nvSpPr>
        <p:spPr>
          <a:xfrm>
            <a:off x="7315200" y="3611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movies kept from 4,671 IMDb candidates with more than 50,000 votes</a:t>
            </a:r>
            <a:endParaRPr lang="en-US" sz="1800" dirty="0"/>
          </a:p>
        </p:txBody>
      </p:sp>
      <p:sp>
        <p:nvSpPr>
          <p:cNvPr id="24" name="Source pill IMDb"/>
          <p:cNvSpPr txBox="1"/>
          <p:nvPr/>
        </p:nvSpPr>
        <p:spPr>
          <a:xfrm>
            <a:off x="7315200" y="4663440"/>
            <a:ext cx="123444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IMDb</a:t>
            </a:r>
            <a:endParaRPr lang="en-US" sz="1500" dirty="0"/>
          </a:p>
        </p:txBody>
      </p:sp>
      <p:sp>
        <p:nvSpPr>
          <p:cNvPr id="25" name="Source pill Kaggle"/>
          <p:cNvSpPr txBox="1"/>
          <p:nvPr/>
        </p:nvSpPr>
        <p:spPr>
          <a:xfrm>
            <a:off x="8686800" y="4663440"/>
            <a:ext cx="123444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Kaggle</a:t>
            </a:r>
            <a:endParaRPr lang="en-US" sz="1500" dirty="0"/>
          </a:p>
        </p:txBody>
      </p:sp>
      <p:sp>
        <p:nvSpPr>
          <p:cNvPr id="26" name="Source pill OMDb"/>
          <p:cNvSpPr txBox="1"/>
          <p:nvPr/>
        </p:nvSpPr>
        <p:spPr>
          <a:xfrm>
            <a:off x="10058400" y="4663440"/>
            <a:ext cx="123444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OMDb</a:t>
            </a:r>
            <a:endParaRPr lang="en-US" sz="1500" dirty="0"/>
          </a:p>
        </p:txBody>
      </p:sp>
      <p:sp>
        <p:nvSpPr>
          <p:cNvPr id="27" name="Stat note"/>
          <p:cNvSpPr txBox="1"/>
          <p:nvPr/>
        </p:nvSpPr>
        <p:spPr>
          <a:xfrm>
            <a:off x="7315200" y="5349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popularity-filtered snapshot, not a sample of all cinema.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1.1 Ontology: Classes and Roles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Seven classes; one Person URI can be both Actor and Director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Shape 5"/>
          <p:cNvSpPr/>
          <p:nvPr/>
        </p:nvSpPr>
        <p:spPr>
          <a:xfrm flipH="1">
            <a:off x="1828800" y="2057400"/>
            <a:ext cx="822960" cy="8686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9" name="Shape 6"/>
          <p:cNvSpPr/>
          <p:nvPr/>
        </p:nvSpPr>
        <p:spPr>
          <a:xfrm flipH="1" flipV="1">
            <a:off x="1828800" y="3657600"/>
            <a:ext cx="822960" cy="8686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0" name="Shape 7"/>
          <p:cNvSpPr/>
          <p:nvPr/>
        </p:nvSpPr>
        <p:spPr>
          <a:xfrm flipH="1" flipV="1">
            <a:off x="4206240" y="2057400"/>
            <a:ext cx="1005840" cy="105156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 flipH="1">
            <a:off x="4206240" y="3566160"/>
            <a:ext cx="1005840" cy="96012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V="1">
            <a:off x="6949440" y="2057400"/>
            <a:ext cx="1645920" cy="105156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949440" y="3337560"/>
            <a:ext cx="16459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49440" y="3566160"/>
            <a:ext cx="1645920" cy="96012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Edge label hasActor"/>
          <p:cNvSpPr txBox="1"/>
          <p:nvPr/>
        </p:nvSpPr>
        <p:spPr>
          <a:xfrm>
            <a:off x="4251960" y="2459736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hasActor</a:t>
            </a:r>
            <a:endParaRPr lang="en-US" sz="1200" dirty="0"/>
          </a:p>
        </p:txBody>
      </p:sp>
      <p:sp>
        <p:nvSpPr>
          <p:cNvPr id="16" name="Edge label directedBy"/>
          <p:cNvSpPr txBox="1"/>
          <p:nvPr/>
        </p:nvSpPr>
        <p:spPr>
          <a:xfrm>
            <a:off x="4160520" y="3922776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directedBy</a:t>
            </a:r>
            <a:endParaRPr lang="en-US" sz="1200" dirty="0"/>
          </a:p>
        </p:txBody>
      </p:sp>
      <p:sp>
        <p:nvSpPr>
          <p:cNvPr id="17" name="Edge label hasGenre"/>
          <p:cNvSpPr txBox="1"/>
          <p:nvPr/>
        </p:nvSpPr>
        <p:spPr>
          <a:xfrm>
            <a:off x="7315200" y="2459736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hasGenre</a:t>
            </a:r>
            <a:endParaRPr lang="en-US" sz="1200" dirty="0"/>
          </a:p>
        </p:txBody>
      </p:sp>
      <p:sp>
        <p:nvSpPr>
          <p:cNvPr id="18" name="Edge label hasExternalRating"/>
          <p:cNvSpPr txBox="1"/>
          <p:nvPr/>
        </p:nvSpPr>
        <p:spPr>
          <a:xfrm>
            <a:off x="7040880" y="3209544"/>
            <a:ext cx="1463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hasExternalRating</a:t>
            </a:r>
            <a:endParaRPr lang="en-US" sz="1200" dirty="0"/>
          </a:p>
        </p:txBody>
      </p:sp>
      <p:sp>
        <p:nvSpPr>
          <p:cNvPr id="19" name="Edge label hasFieldProvenance"/>
          <p:cNvSpPr txBox="1"/>
          <p:nvPr/>
        </p:nvSpPr>
        <p:spPr>
          <a:xfrm>
            <a:off x="6995160" y="3922776"/>
            <a:ext cx="15544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hasFieldProvenance</a:t>
            </a:r>
            <a:endParaRPr lang="en-US" sz="1200" dirty="0"/>
          </a:p>
        </p:txBody>
      </p:sp>
      <p:sp>
        <p:nvSpPr>
          <p:cNvPr id="20" name="Class Person"/>
          <p:cNvSpPr txBox="1"/>
          <p:nvPr/>
        </p:nvSpPr>
        <p:spPr>
          <a:xfrm>
            <a:off x="548640" y="2926080"/>
            <a:ext cx="155448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Person</a:t>
            </a:r>
            <a:endParaRPr lang="en-US" sz="1800" dirty="0"/>
          </a:p>
        </p:txBody>
      </p:sp>
      <p:sp>
        <p:nvSpPr>
          <p:cNvPr id="21" name="Class Actor"/>
          <p:cNvSpPr txBox="1"/>
          <p:nvPr/>
        </p:nvSpPr>
        <p:spPr>
          <a:xfrm>
            <a:off x="2651760" y="1737360"/>
            <a:ext cx="155448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Actor</a:t>
            </a:r>
            <a:endParaRPr lang="en-US" sz="1600" dirty="0"/>
          </a:p>
        </p:txBody>
      </p:sp>
      <p:sp>
        <p:nvSpPr>
          <p:cNvPr id="22" name="Class Director"/>
          <p:cNvSpPr txBox="1"/>
          <p:nvPr/>
        </p:nvSpPr>
        <p:spPr>
          <a:xfrm>
            <a:off x="2651760" y="4206240"/>
            <a:ext cx="155448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Director</a:t>
            </a:r>
            <a:endParaRPr lang="en-US" sz="1600" dirty="0"/>
          </a:p>
        </p:txBody>
      </p:sp>
      <p:sp>
        <p:nvSpPr>
          <p:cNvPr id="23" name="Class Movie"/>
          <p:cNvSpPr txBox="1"/>
          <p:nvPr/>
        </p:nvSpPr>
        <p:spPr>
          <a:xfrm>
            <a:off x="521208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Movie</a:t>
            </a:r>
            <a:endParaRPr lang="en-US" sz="2000" dirty="0"/>
          </a:p>
        </p:txBody>
      </p:sp>
      <p:sp>
        <p:nvSpPr>
          <p:cNvPr id="24" name="Class Genre"/>
          <p:cNvSpPr txBox="1"/>
          <p:nvPr/>
        </p:nvSpPr>
        <p:spPr>
          <a:xfrm>
            <a:off x="8595360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Genre</a:t>
            </a:r>
            <a:endParaRPr lang="en-US" sz="1600" dirty="0"/>
          </a:p>
        </p:txBody>
      </p:sp>
      <p:sp>
        <p:nvSpPr>
          <p:cNvPr id="25" name="Class ExternalRating"/>
          <p:cNvSpPr txBox="1"/>
          <p:nvPr/>
        </p:nvSpPr>
        <p:spPr>
          <a:xfrm>
            <a:off x="8595360" y="3017520"/>
            <a:ext cx="219456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ExternalRating</a:t>
            </a:r>
            <a:endParaRPr lang="en-US" sz="1600" dirty="0"/>
          </a:p>
        </p:txBody>
      </p:sp>
      <p:sp>
        <p:nvSpPr>
          <p:cNvPr id="26" name="Class FieldProvenance"/>
          <p:cNvSpPr txBox="1"/>
          <p:nvPr/>
        </p:nvSpPr>
        <p:spPr>
          <a:xfrm>
            <a:off x="8595360" y="4206240"/>
            <a:ext cx="219456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FieldProvenance</a:t>
            </a:r>
            <a:endParaRPr lang="en-US" sz="1600" dirty="0"/>
          </a:p>
        </p:txBody>
      </p:sp>
      <p:sp>
        <p:nvSpPr>
          <p:cNvPr id="27" name="Rating properties"/>
          <p:cNvSpPr txBox="1"/>
          <p:nvPr/>
        </p:nvSpPr>
        <p:spPr>
          <a:xfrm>
            <a:off x="859536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ratingSource · ratingValue</a:t>
            </a:r>
            <a:endParaRPr lang="en-US" sz="1200" dirty="0"/>
          </a:p>
        </p:txBody>
      </p:sp>
      <p:sp>
        <p:nvSpPr>
          <p:cNvPr id="28" name="Provenance property"/>
          <p:cNvSpPr txBox="1"/>
          <p:nvPr/>
        </p:nvSpPr>
        <p:spPr>
          <a:xfrm>
            <a:off x="859536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fieldName</a:t>
            </a:r>
            <a:endParaRPr lang="en-US" sz="1200" dirty="0"/>
          </a:p>
        </p:txBody>
      </p:sp>
      <p:sp>
        <p:nvSpPr>
          <p:cNvPr id="29" name="Note card 1"/>
          <p:cNvSpPr/>
          <p:nvPr/>
        </p:nvSpPr>
        <p:spPr>
          <a:xfrm>
            <a:off x="548640" y="530352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0" name="Note text 1"/>
          <p:cNvSpPr txBox="1"/>
          <p:nvPr/>
        </p:nvSpPr>
        <p:spPr>
          <a:xfrm>
            <a:off x="7315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178 dual-role people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Person URI keeps both their actor and director links.</a:t>
            </a:r>
            <a:endParaRPr lang="en-US" sz="1500" dirty="0"/>
          </a:p>
        </p:txBody>
      </p:sp>
      <p:sp>
        <p:nvSpPr>
          <p:cNvPr id="31" name="Note card 2"/>
          <p:cNvSpPr/>
          <p:nvPr/>
        </p:nvSpPr>
        <p:spPr>
          <a:xfrm>
            <a:off x="4297680" y="530352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2" name="Note text 2"/>
          <p:cNvSpPr txBox="1"/>
          <p:nvPr/>
        </p:nvSpPr>
        <p:spPr>
          <a:xfrm>
            <a:off x="448056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Credited roles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Roles are not time-qualified; no cast order or performance event.</a:t>
            </a:r>
            <a:endParaRPr lang="en-US" sz="1500" dirty="0"/>
          </a:p>
        </p:txBody>
      </p:sp>
      <p:sp>
        <p:nvSpPr>
          <p:cNvPr id="33" name="Note card 3"/>
          <p:cNvSpPr/>
          <p:nvPr/>
        </p:nvSpPr>
        <p:spPr>
          <a:xfrm>
            <a:off x="8046720" y="5303520"/>
            <a:ext cx="35661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4" name="Note text 3"/>
          <p:cNvSpPr txBox="1"/>
          <p:nvPr/>
        </p:nvSpPr>
        <p:spPr>
          <a:xfrm>
            <a:off x="822960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Awards as text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Awards stay a text summary; individual award events are not resolved.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1.2 Properties and Vocabulary Reuse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A stable local vocabulary aligned with Schema.org, PROV-O and OWL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Domain → Range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cine:hasActor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Object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Actor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cine:directedBy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Object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Director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cine:hasGenre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Object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Genre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cine:hasExternalRating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Object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ExternalRating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cine:imdbID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Datatype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xsd:string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cine:releaseYear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Datatype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xsd:gYear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cine:imdbRating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Datatype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xsd:decimal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cine:ratingVotes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Datatype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Movie → xsd:integer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9" name="Reuse card 1"/>
          <p:cNvSpPr/>
          <p:nvPr/>
        </p:nvSpPr>
        <p:spPr>
          <a:xfrm>
            <a:off x="7680960" y="1645920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0" name="Schema.org icon circle"/>
          <p:cNvSpPr/>
          <p:nvPr/>
        </p:nvSpPr>
        <p:spPr>
          <a:xfrm>
            <a:off x="7818120" y="19202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0" descr="Schema.or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0" y="2045970"/>
            <a:ext cx="251460" cy="251460"/>
          </a:xfrm>
          <a:prstGeom prst="rect">
            <a:avLst/>
          </a:prstGeom>
        </p:spPr>
      </p:pic>
      <p:sp>
        <p:nvSpPr>
          <p:cNvPr id="12" name="Reuse text 1"/>
          <p:cNvSpPr txBox="1"/>
          <p:nvPr/>
        </p:nvSpPr>
        <p:spPr>
          <a:xfrm>
            <a:off x="8503920" y="1737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Schema.org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Movie and Person subclass Schema.org classes; parallel schema: edges.</a:t>
            </a:r>
            <a:endParaRPr lang="en-US" sz="1600" dirty="0"/>
          </a:p>
        </p:txBody>
      </p:sp>
      <p:sp>
        <p:nvSpPr>
          <p:cNvPr id="13" name="Reuse card 2"/>
          <p:cNvSpPr/>
          <p:nvPr/>
        </p:nvSpPr>
        <p:spPr>
          <a:xfrm>
            <a:off x="7680960" y="2807208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PROV-O and DCTerms icon circle"/>
          <p:cNvSpPr/>
          <p:nvPr/>
        </p:nvSpPr>
        <p:spPr>
          <a:xfrm>
            <a:off x="7818120" y="308152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PROV-O and DCTer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3207258"/>
            <a:ext cx="251460" cy="251460"/>
          </a:xfrm>
          <a:prstGeom prst="rect">
            <a:avLst/>
          </a:prstGeom>
        </p:spPr>
      </p:pic>
      <p:sp>
        <p:nvSpPr>
          <p:cNvPr id="16" name="Reuse text 2"/>
          <p:cNvSpPr txBox="1"/>
          <p:nvPr/>
        </p:nvSpPr>
        <p:spPr>
          <a:xfrm>
            <a:off x="8503920" y="28986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PROV-O and DCTerms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prov:wasDerivedFrom and dcterms:source name contributing sources.</a:t>
            </a:r>
            <a:endParaRPr lang="en-US" sz="1600" dirty="0"/>
          </a:p>
        </p:txBody>
      </p:sp>
      <p:sp>
        <p:nvSpPr>
          <p:cNvPr id="17" name="Reuse card 3"/>
          <p:cNvSpPr/>
          <p:nvPr/>
        </p:nvSpPr>
        <p:spPr>
          <a:xfrm>
            <a:off x="7680960" y="3968496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8" name="owl:sameAs icon circle"/>
          <p:cNvSpPr/>
          <p:nvPr/>
        </p:nvSpPr>
        <p:spPr>
          <a:xfrm>
            <a:off x="7818120" y="4242816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owl:same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4368546"/>
            <a:ext cx="251460" cy="251460"/>
          </a:xfrm>
          <a:prstGeom prst="rect">
            <a:avLst/>
          </a:prstGeom>
        </p:spPr>
      </p:pic>
      <p:sp>
        <p:nvSpPr>
          <p:cNvPr id="20" name="Reuse text 3"/>
          <p:cNvSpPr txBox="1"/>
          <p:nvPr/>
        </p:nvSpPr>
        <p:spPr>
          <a:xfrm>
            <a:off x="8503920" y="405993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owl:sameAs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Wikidata and DBpedia identity links; web pages use foaf:page.</a:t>
            </a:r>
            <a:endParaRPr lang="en-US" sz="1600" dirty="0"/>
          </a:p>
        </p:txBody>
      </p:sp>
      <p:sp>
        <p:nvSpPr>
          <p:cNvPr id="21" name="Reuse card 4"/>
          <p:cNvSpPr/>
          <p:nvPr/>
        </p:nvSpPr>
        <p:spPr>
          <a:xfrm>
            <a:off x="7680960" y="5129784"/>
            <a:ext cx="39319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Local namespace icon circle"/>
          <p:cNvSpPr/>
          <p:nvPr/>
        </p:nvSpPr>
        <p:spPr>
          <a:xfrm>
            <a:off x="7818120" y="5404104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Local namesp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5529834"/>
            <a:ext cx="251460" cy="251460"/>
          </a:xfrm>
          <a:prstGeom prst="rect">
            <a:avLst/>
          </a:prstGeom>
        </p:spPr>
      </p:pic>
      <p:sp>
        <p:nvSpPr>
          <p:cNvPr id="24" name="Reuse text 4"/>
          <p:cNvSpPr txBox="1"/>
          <p:nvPr/>
        </p:nvSpPr>
        <p:spPr>
          <a:xfrm>
            <a:off x="8503920" y="52212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Local namespace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cine: for vocabulary, cg: for resources under example.org/cinegraph/.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 Data Collection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Five sources, each with a defined role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Input and identity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IMDb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Basics and ratings TSV, joined on tconst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Title, year, runtime, genres, rating and votes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Kaggle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Metadata and credits CSV; TMDB and IMDb IDs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Revenue, budget, cast (up to eight), directors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OMDb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JSON requested by exact IMDb ID, cached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Plot, poster, awards, external rating pairs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Wikidata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IMDb IDs for movies, TMDB IDs for people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Identity links and person profiles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DBpedia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SPARQL matched by IMDb ID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External movie identity links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 note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Reconciliation operates per field: format compatibility alone does not decide which source supplies a value.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2.1 Catalog Membership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Only movies present in all three primary sources are retained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Step card 1"/>
          <p:cNvSpPr/>
          <p:nvPr/>
        </p:nvSpPr>
        <p:spPr>
          <a:xfrm>
            <a:off x="548640" y="1645920"/>
            <a:ext cx="31089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9" name="Step text 1"/>
          <p:cNvSpPr txBox="1"/>
          <p:nvPr/>
        </p:nvSpPr>
        <p:spPr>
          <a:xfrm>
            <a:off x="822960" y="181051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IMDB CANDIDATES</a:t>
            </a:r>
            <a:endParaRPr lang="en-US" sz="13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4,671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titleType = movie, votes &gt; 50,000</a:t>
            </a:r>
            <a:endParaRPr lang="en-US" sz="1300" dirty="0"/>
          </a:p>
        </p:txBody>
      </p:sp>
      <p:sp>
        <p:nvSpPr>
          <p:cNvPr id="10" name="Step card 2"/>
          <p:cNvSpPr/>
          <p:nvPr/>
        </p:nvSpPr>
        <p:spPr>
          <a:xfrm>
            <a:off x="4526280" y="1645920"/>
            <a:ext cx="31089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1" name="Step text 2"/>
          <p:cNvSpPr txBox="1"/>
          <p:nvPr/>
        </p:nvSpPr>
        <p:spPr>
          <a:xfrm>
            <a:off x="4800600" y="181051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KAGGLE MATCH</a:t>
            </a:r>
            <a:endParaRPr lang="en-US" sz="13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3,651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 IMDb ID match with credits</a:t>
            </a:r>
            <a:endParaRPr lang="en-US" sz="1300" dirty="0"/>
          </a:p>
        </p:txBody>
      </p:sp>
      <p:sp>
        <p:nvSpPr>
          <p:cNvPr id="12" name="Step card 3"/>
          <p:cNvSpPr/>
          <p:nvPr/>
        </p:nvSpPr>
        <p:spPr>
          <a:xfrm>
            <a:off x="8503920" y="1645920"/>
            <a:ext cx="3108960" cy="17830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3" name="Step text 3"/>
          <p:cNvSpPr txBox="1"/>
          <p:nvPr/>
        </p:nvSpPr>
        <p:spPr>
          <a:xfrm>
            <a:off x="8778240" y="181051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FINAL CATALOG</a:t>
            </a:r>
            <a:endParaRPr lang="en-US" sz="13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3,651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Usable OMDb record, all three sources</a:t>
            </a:r>
            <a:endParaRPr lang="en-US" sz="1300" dirty="0"/>
          </a:p>
        </p:txBody>
      </p:sp>
      <p:sp>
        <p:nvSpPr>
          <p:cNvPr id="14" name="Arrow 1"/>
          <p:cNvSpPr/>
          <p:nvPr/>
        </p:nvSpPr>
        <p:spPr>
          <a:xfrm>
            <a:off x="3749040" y="2286000"/>
            <a:ext cx="685800" cy="41148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Arrow 2"/>
          <p:cNvSpPr/>
          <p:nvPr/>
        </p:nvSpPr>
        <p:spPr>
          <a:xfrm>
            <a:off x="7726680" y="2286000"/>
            <a:ext cx="685800" cy="41148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Formula card"/>
          <p:cNvSpPr/>
          <p:nvPr/>
        </p:nvSpPr>
        <p:spPr>
          <a:xfrm>
            <a:off x="548640" y="3749040"/>
            <a:ext cx="566928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7" name="Formula label"/>
          <p:cNvSpPr txBox="1"/>
          <p:nvPr/>
        </p:nvSpPr>
        <p:spPr>
          <a:xfrm>
            <a:off x="86868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CATALOG MEMBERSHIP</a:t>
            </a:r>
            <a:endParaRPr lang="en-US" sz="1300" dirty="0"/>
          </a:p>
        </p:txBody>
      </p:sp>
      <p:sp>
        <p:nvSpPr>
          <p:cNvPr id="18" name="Formula"/>
          <p:cNvSpPr txBox="1"/>
          <p:nvPr/>
        </p:nvSpPr>
        <p:spPr>
          <a:xfrm>
            <a:off x="868680" y="4343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 = I ∩ K ∩ O</a:t>
            </a:r>
            <a:endParaRPr lang="en-US" sz="4000" dirty="0"/>
          </a:p>
        </p:txBody>
      </p:sp>
      <p:sp>
        <p:nvSpPr>
          <p:cNvPr id="19" name="Formula legend"/>
          <p:cNvSpPr txBox="1"/>
          <p:nvPr/>
        </p:nvSpPr>
        <p:spPr>
          <a:xfrm>
            <a:off x="868680" y="5166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   IMDb movies with more than 50,000 votes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K   compatible Kaggle records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O   IDs with usable OMDb records</a:t>
            </a:r>
            <a:endParaRPr lang="en-US" sz="1500" dirty="0"/>
          </a:p>
        </p:txBody>
      </p:sp>
      <p:sp>
        <p:nvSpPr>
          <p:cNvPr id="20" name="Retention card"/>
          <p:cNvSpPr/>
          <p:nvPr/>
        </p:nvSpPr>
        <p:spPr>
          <a:xfrm>
            <a:off x="6492240" y="3749040"/>
            <a:ext cx="51206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1" name="Retention label"/>
          <p:cNvSpPr txBox="1"/>
          <p:nvPr/>
        </p:nvSpPr>
        <p:spPr>
          <a:xfrm>
            <a:off x="685800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RETENTION RATE</a:t>
            </a:r>
            <a:endParaRPr lang="en-US" sz="1300" dirty="0"/>
          </a:p>
        </p:txBody>
      </p:sp>
      <p:sp>
        <p:nvSpPr>
          <p:cNvPr id="22" name="Retention number"/>
          <p:cNvSpPr txBox="1"/>
          <p:nvPr/>
        </p:nvSpPr>
        <p:spPr>
          <a:xfrm>
            <a:off x="6858000" y="4297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78.16%</a:t>
            </a:r>
            <a:endParaRPr lang="en-US" sz="5400" dirty="0"/>
          </a:p>
        </p:txBody>
      </p:sp>
      <p:sp>
        <p:nvSpPr>
          <p:cNvPr id="23" name="Bar track"/>
          <p:cNvSpPr/>
          <p:nvPr/>
        </p:nvSpPr>
        <p:spPr>
          <a:xfrm>
            <a:off x="6858000" y="5303520"/>
            <a:ext cx="4389120" cy="256032"/>
          </a:xfrm>
          <a:prstGeom prst="roundRect">
            <a:avLst>
              <a:gd name="adj" fmla="val 35714"/>
            </a:avLst>
          </a:prstGeom>
          <a:solidFill>
            <a:srgbClr val="D9E0EC"/>
          </a:solidFill>
          <a:ln/>
        </p:spPr>
      </p:sp>
      <p:sp>
        <p:nvSpPr>
          <p:cNvPr id="24" name="Bar fill"/>
          <p:cNvSpPr/>
          <p:nvPr/>
        </p:nvSpPr>
        <p:spPr>
          <a:xfrm>
            <a:off x="6858000" y="5303520"/>
            <a:ext cx="3430536" cy="256032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/>
        </p:spPr>
      </p:sp>
      <p:sp>
        <p:nvSpPr>
          <p:cNvPr id="25" name="Kept label"/>
          <p:cNvSpPr txBox="1"/>
          <p:nvPr/>
        </p:nvSpPr>
        <p:spPr>
          <a:xfrm>
            <a:off x="685800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3,651 kept</a:t>
            </a:r>
            <a:endParaRPr lang="en-US" sz="1400" dirty="0"/>
          </a:p>
        </p:txBody>
      </p:sp>
      <p:sp>
        <p:nvSpPr>
          <p:cNvPr id="26" name="Excluded label"/>
          <p:cNvSpPr txBox="1"/>
          <p:nvPr/>
        </p:nvSpPr>
        <p:spPr>
          <a:xfrm>
            <a:off x="905256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1,020 excluded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2.2 Data Transformation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Field-level reconciliation with source provenance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Priority card IMDb"/>
          <p:cNvSpPr/>
          <p:nvPr/>
        </p:nvSpPr>
        <p:spPr>
          <a:xfrm>
            <a:off x="548640" y="1645920"/>
            <a:ext cx="35661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9" name="Priority pill IMDb"/>
          <p:cNvSpPr txBox="1"/>
          <p:nvPr/>
        </p:nvSpPr>
        <p:spPr>
          <a:xfrm>
            <a:off x="731520" y="1828800"/>
            <a:ext cx="3200400" cy="502920"/>
          </a:xfrm>
          <a:prstGeom prst="roundRect">
            <a:avLst>
              <a:gd name="adj" fmla="val 3636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IMDb takes precedence for</a:t>
            </a:r>
            <a:endParaRPr lang="en-US" sz="1500" dirty="0"/>
          </a:p>
        </p:txBody>
      </p:sp>
      <p:sp>
        <p:nvSpPr>
          <p:cNvPr id="10" name="Priority list IMDb"/>
          <p:cNvSpPr txBox="1"/>
          <p:nvPr/>
        </p:nvSpPr>
        <p:spPr>
          <a:xfrm>
            <a:off x="914400" y="2560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Title and release year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Duration and genres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IMDb rating and votes</a:t>
            </a:r>
            <a:endParaRPr lang="en-US" sz="1600" dirty="0"/>
          </a:p>
        </p:txBody>
      </p:sp>
      <p:sp>
        <p:nvSpPr>
          <p:cNvPr id="11" name="Priority card Kaggle"/>
          <p:cNvSpPr/>
          <p:nvPr/>
        </p:nvSpPr>
        <p:spPr>
          <a:xfrm>
            <a:off x="4297680" y="1645920"/>
            <a:ext cx="35661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2" name="Priority pill Kaggle"/>
          <p:cNvSpPr txBox="1"/>
          <p:nvPr/>
        </p:nvSpPr>
        <p:spPr>
          <a:xfrm>
            <a:off x="4480560" y="1828800"/>
            <a:ext cx="3200400" cy="502920"/>
          </a:xfrm>
          <a:prstGeom prst="roundRect">
            <a:avLst>
              <a:gd name="adj" fmla="val 3636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Kaggle takes precedence for</a:t>
            </a:r>
            <a:endParaRPr lang="en-US" sz="1500" dirty="0"/>
          </a:p>
        </p:txBody>
      </p:sp>
      <p:sp>
        <p:nvSpPr>
          <p:cNvPr id="13" name="Priority list Kaggle"/>
          <p:cNvSpPr txBox="1"/>
          <p:nvPr/>
        </p:nvSpPr>
        <p:spPr>
          <a:xfrm>
            <a:off x="4663440" y="2560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Budget and revenue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Cast (up to eight)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Director credits</a:t>
            </a:r>
            <a:endParaRPr lang="en-US" sz="1600" dirty="0"/>
          </a:p>
        </p:txBody>
      </p:sp>
      <p:sp>
        <p:nvSpPr>
          <p:cNvPr id="14" name="Priority card OMDb"/>
          <p:cNvSpPr/>
          <p:nvPr/>
        </p:nvSpPr>
        <p:spPr>
          <a:xfrm>
            <a:off x="8046720" y="1645920"/>
            <a:ext cx="35661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5" name="Priority pill OMDb"/>
          <p:cNvSpPr txBox="1"/>
          <p:nvPr/>
        </p:nvSpPr>
        <p:spPr>
          <a:xfrm>
            <a:off x="8229600" y="1828800"/>
            <a:ext cx="3200400" cy="502920"/>
          </a:xfrm>
          <a:prstGeom prst="roundRect">
            <a:avLst>
              <a:gd name="adj" fmla="val 3636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OMDb takes precedence for</a:t>
            </a:r>
            <a:endParaRPr lang="en-US" sz="1500" dirty="0"/>
          </a:p>
        </p:txBody>
      </p:sp>
      <p:sp>
        <p:nvSpPr>
          <p:cNvPr id="16" name="Priority list OMDb"/>
          <p:cNvSpPr txBox="1"/>
          <p:nvPr/>
        </p:nvSpPr>
        <p:spPr>
          <a:xfrm>
            <a:off x="8412480" y="2560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Plot summary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Awards text</a:t>
            </a:r>
            <a:endParaRPr lang="en-US" sz="1600" dirty="0"/>
          </a:p>
        </p:txBody>
      </p:sp>
      <p:sp>
        <p:nvSpPr>
          <p:cNvPr id="17" name="Provenance band"/>
          <p:cNvSpPr/>
          <p:nvPr/>
        </p:nvSpPr>
        <p:spPr>
          <a:xfrm>
            <a:off x="548640" y="4434840"/>
            <a:ext cx="11064240" cy="17830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8" name="Provenance text"/>
          <p:cNvSpPr txBox="1"/>
          <p:nvPr/>
        </p:nvSpPr>
        <p:spPr>
          <a:xfrm>
            <a:off x="868680" y="4709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Field-level provenance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FieldProvenance nodes link each field of Inception to its supplier with prov:wasDerivedFrom.</a:t>
            </a:r>
            <a:endParaRPr lang="en-US" sz="1800" dirty="0"/>
          </a:p>
        </p:txBody>
      </p:sp>
      <p:sp>
        <p:nvSpPr>
          <p:cNvPr id="19" name="Provenance chip title"/>
          <p:cNvSpPr/>
          <p:nvPr/>
        </p:nvSpPr>
        <p:spPr>
          <a:xfrm>
            <a:off x="5029200" y="4754880"/>
            <a:ext cx="19659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20" name="Provenance chip text title"/>
          <p:cNvSpPr txBox="1"/>
          <p:nvPr/>
        </p:nvSpPr>
        <p:spPr>
          <a:xfrm>
            <a:off x="5257800" y="4983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title</a:t>
            </a:r>
            <a:endParaRPr lang="en-US" sz="20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from IMDb</a:t>
            </a:r>
            <a:endParaRPr lang="en-US" sz="2000" dirty="0"/>
          </a:p>
        </p:txBody>
      </p:sp>
      <p:sp>
        <p:nvSpPr>
          <p:cNvPr id="21" name="Provenance chip revenue"/>
          <p:cNvSpPr/>
          <p:nvPr/>
        </p:nvSpPr>
        <p:spPr>
          <a:xfrm>
            <a:off x="7223760" y="4754880"/>
            <a:ext cx="19659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22" name="Provenance chip text revenue"/>
          <p:cNvSpPr txBox="1"/>
          <p:nvPr/>
        </p:nvSpPr>
        <p:spPr>
          <a:xfrm>
            <a:off x="7452360" y="4983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revenue</a:t>
            </a:r>
            <a:endParaRPr lang="en-US" sz="20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from Kaggle</a:t>
            </a:r>
            <a:endParaRPr lang="en-US" sz="2000" dirty="0"/>
          </a:p>
        </p:txBody>
      </p:sp>
      <p:sp>
        <p:nvSpPr>
          <p:cNvPr id="23" name="Provenance chip plot"/>
          <p:cNvSpPr/>
          <p:nvPr/>
        </p:nvSpPr>
        <p:spPr>
          <a:xfrm>
            <a:off x="9418320" y="4754880"/>
            <a:ext cx="19659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24" name="Provenance chip text plot"/>
          <p:cNvSpPr txBox="1"/>
          <p:nvPr/>
        </p:nvSpPr>
        <p:spPr>
          <a:xfrm>
            <a:off x="9646920" y="4983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plot</a:t>
            </a:r>
            <a:endParaRPr lang="en-US" sz="20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from OMDb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2.3 Audit with SHACL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A machine-checkable quality gate before publication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 or relation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SHACL requirement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Title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Exactly one literal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IMDb ID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Exactly one, matching ^tt[0-9]+$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Release year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At most one xsd:gYear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IMDb rating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At most one decimal in [0, 10]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Duration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At most one nonnegative decimal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Rating votes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At most one nonnegative integer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Actor, director, genre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IRI of the declared class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</a:rPr>
                        <a:t>Person and genre labels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</a:rPr>
                        <a:t>At least one readable label</a:t>
                      </a:r>
                      <a:endParaRPr lang="en-US" sz="1400" dirty="0"/>
                    </a:p>
                  </a:txBody>
                  <a:tcPr marL="114300" marR="1143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9" name="SHACL note"/>
          <p:cNvSpPr txBox="1"/>
          <p:nvPr/>
        </p:nvSpPr>
        <p:spPr>
          <a:xfrm>
            <a:off x="548640" y="5852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Passing means conformance to the encoded constraints, not correctness beyond them.</a:t>
            </a:r>
            <a:endParaRPr lang="en-US" sz="1200" dirty="0"/>
          </a:p>
        </p:txBody>
      </p:sp>
      <p:sp>
        <p:nvSpPr>
          <p:cNvPr id="10" name="Triples card"/>
          <p:cNvSpPr/>
          <p:nvPr/>
        </p:nvSpPr>
        <p:spPr>
          <a:xfrm>
            <a:off x="7772400" y="164592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1" name="Database icon circle"/>
          <p:cNvSpPr/>
          <p:nvPr/>
        </p:nvSpPr>
        <p:spPr>
          <a:xfrm>
            <a:off x="8046720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0" descr="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011680"/>
            <a:ext cx="274320" cy="274320"/>
          </a:xfrm>
          <a:prstGeom prst="rect">
            <a:avLst/>
          </a:prstGeom>
        </p:spPr>
      </p:pic>
      <p:sp>
        <p:nvSpPr>
          <p:cNvPr id="13" name="Triples text"/>
          <p:cNvSpPr txBox="1"/>
          <p:nvPr/>
        </p:nvSpPr>
        <p:spPr>
          <a:xfrm>
            <a:off x="8046720" y="2560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645,850</a:t>
            </a:r>
            <a:endParaRPr lang="en-US" sz="4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triples in the saved Turtle graph, parsed and validated</a:t>
            </a:r>
            <a:endParaRPr lang="en-US" sz="4400" dirty="0"/>
          </a:p>
        </p:txBody>
      </p:sp>
      <p:sp>
        <p:nvSpPr>
          <p:cNvPr id="14" name="Violations card"/>
          <p:cNvSpPr/>
          <p:nvPr/>
        </p:nvSpPr>
        <p:spPr>
          <a:xfrm>
            <a:off x="7772400" y="393192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5" name="Check icon circle"/>
          <p:cNvSpPr/>
          <p:nvPr/>
        </p:nvSpPr>
        <p:spPr>
          <a:xfrm>
            <a:off x="8046720" y="4160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297680"/>
            <a:ext cx="274320" cy="274320"/>
          </a:xfrm>
          <a:prstGeom prst="rect">
            <a:avLst/>
          </a:prstGeom>
        </p:spPr>
      </p:pic>
      <p:sp>
        <p:nvSpPr>
          <p:cNvPr id="17" name="Violations text"/>
          <p:cNvSpPr txBox="1"/>
          <p:nvPr/>
        </p:nvSpPr>
        <p:spPr>
          <a:xfrm>
            <a:off x="8046720" y="4846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4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SHACL violations, with inference disabled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3. Linking to External Datasets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Identity links from stable identifiers, not name similarity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6459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Link card Movies"/>
          <p:cNvSpPr/>
          <p:nvPr/>
        </p:nvSpPr>
        <p:spPr>
          <a:xfrm>
            <a:off x="7772400" y="16459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Movies icon circle"/>
          <p:cNvSpPr/>
          <p:nvPr/>
        </p:nvSpPr>
        <p:spPr>
          <a:xfrm>
            <a:off x="7955280" y="1828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0" descr="Mov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274320" cy="274320"/>
          </a:xfrm>
          <a:prstGeom prst="rect">
            <a:avLst/>
          </a:prstGeom>
        </p:spPr>
      </p:pic>
      <p:sp>
        <p:nvSpPr>
          <p:cNvPr id="12" name="Link text Movies"/>
          <p:cNvSpPr txBox="1"/>
          <p:nvPr/>
        </p:nvSpPr>
        <p:spPr>
          <a:xfrm>
            <a:off x="8686800" y="1783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Movies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Wikidata via wdt:P345, DBpedia via dbo:imdbId. All 3,651 reach Wikidata.</a:t>
            </a:r>
            <a:endParaRPr lang="en-US" sz="1700" dirty="0"/>
          </a:p>
        </p:txBody>
      </p:sp>
      <p:sp>
        <p:nvSpPr>
          <p:cNvPr id="13" name="Link card People"/>
          <p:cNvSpPr/>
          <p:nvPr/>
        </p:nvSpPr>
        <p:spPr>
          <a:xfrm>
            <a:off x="7772400" y="3172968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People icon circle"/>
          <p:cNvSpPr/>
          <p:nvPr/>
        </p:nvSpPr>
        <p:spPr>
          <a:xfrm>
            <a:off x="7955280" y="33558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1" descr="Peo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493008"/>
            <a:ext cx="274320" cy="274320"/>
          </a:xfrm>
          <a:prstGeom prst="rect">
            <a:avLst/>
          </a:prstGeom>
        </p:spPr>
      </p:pic>
      <p:sp>
        <p:nvSpPr>
          <p:cNvPr id="16" name="Link text People"/>
          <p:cNvSpPr txBox="1"/>
          <p:nvPr/>
        </p:nvSpPr>
        <p:spPr>
          <a:xfrm>
            <a:off x="8686800" y="33101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People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Wikidata via TMDB person IDs: 12,336 of 13,504 linked.</a:t>
            </a:r>
            <a:endParaRPr lang="en-US" sz="1700" dirty="0"/>
          </a:p>
        </p:txBody>
      </p:sp>
      <p:sp>
        <p:nvSpPr>
          <p:cNvPr id="17" name="Link card Genres"/>
          <p:cNvSpPr/>
          <p:nvPr/>
        </p:nvSpPr>
        <p:spPr>
          <a:xfrm>
            <a:off x="7772400" y="4700016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" name="Genres icon circle"/>
          <p:cNvSpPr/>
          <p:nvPr/>
        </p:nvSpPr>
        <p:spPr>
          <a:xfrm>
            <a:off x="7955280" y="488289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2" descr="Gen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020056"/>
            <a:ext cx="274320" cy="274320"/>
          </a:xfrm>
          <a:prstGeom prst="rect">
            <a:avLst/>
          </a:prstGeom>
        </p:spPr>
      </p:pic>
      <p:sp>
        <p:nvSpPr>
          <p:cNvPr id="20" name="Link text Genres"/>
          <p:cNvSpPr txBox="1"/>
          <p:nvPr/>
        </p:nvSpPr>
        <p:spPr>
          <a:xfrm>
            <a:off x="8686800" y="4837176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Genres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English labels with film-genre restrictions: 19 of 22 linked.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4. Publishing a SPARQL Endpoint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Read-only access to the RDF graph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Query card"/>
          <p:cNvSpPr/>
          <p:nvPr/>
        </p:nvSpPr>
        <p:spPr>
          <a:xfrm>
            <a:off x="548640" y="1645920"/>
            <a:ext cx="67665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9" name="Query label"/>
          <p:cNvSpPr txBox="1"/>
          <p:nvPr/>
        </p:nvSpPr>
        <p:spPr>
          <a:xfrm>
            <a:off x="868680" y="18288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MOVIES DIRECTED BY CHRISTOPHER NOLAN</a:t>
            </a:r>
            <a:endParaRPr lang="en-US" sz="1300" dirty="0"/>
          </a:p>
        </p:txBody>
      </p:sp>
      <p:sp>
        <p:nvSpPr>
          <p:cNvPr id="10" name="SPARQL code"/>
          <p:cNvSpPr txBox="1"/>
          <p:nvPr/>
        </p:nvSpPr>
        <p:spPr>
          <a:xfrm>
            <a:off x="868680" y="224028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cine: &lt;https://example.org/cinegraph/ontology#&gt;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rdfs: &lt;http://www.w3.org/2000/01/rdf-schema#&gt;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?title ?year WHERE 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?movie a cine:Movie ; cine:title ?title 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cine:directedBy ?director 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 { ?movie cine:releaseYear ?year }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?director rdfs:label "Christopher Nolan"@en 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?year</a:t>
            </a:r>
            <a:endParaRPr lang="en-US" sz="1400" dirty="0"/>
          </a:p>
        </p:txBody>
      </p:sp>
      <p:sp>
        <p:nvSpPr>
          <p:cNvPr id="11" name="Mini stat 1"/>
          <p:cNvSpPr/>
          <p:nvPr/>
        </p:nvSpPr>
        <p:spPr>
          <a:xfrm>
            <a:off x="548640" y="51663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2" name="Mini stat text 1"/>
          <p:cNvSpPr txBox="1"/>
          <p:nvPr/>
        </p:nvSpPr>
        <p:spPr>
          <a:xfrm>
            <a:off x="731520" y="53218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645,850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saved triples</a:t>
            </a:r>
            <a:endParaRPr lang="en-US" sz="2400" dirty="0"/>
          </a:p>
        </p:txBody>
      </p:sp>
      <p:sp>
        <p:nvSpPr>
          <p:cNvPr id="13" name="Mini stat 2"/>
          <p:cNvSpPr/>
          <p:nvPr/>
        </p:nvSpPr>
        <p:spPr>
          <a:xfrm>
            <a:off x="2834640" y="51663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4" name="Mini stat text 2"/>
          <p:cNvSpPr txBox="1"/>
          <p:nvPr/>
        </p:nvSpPr>
        <p:spPr>
          <a:xfrm>
            <a:off x="3017520" y="53218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659,358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runtime triples</a:t>
            </a:r>
            <a:endParaRPr lang="en-US" sz="2400" dirty="0"/>
          </a:p>
        </p:txBody>
      </p:sp>
      <p:sp>
        <p:nvSpPr>
          <p:cNvPr id="15" name="Mini stat 3"/>
          <p:cNvSpPr/>
          <p:nvPr/>
        </p:nvSpPr>
        <p:spPr>
          <a:xfrm>
            <a:off x="5120640" y="51663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6" name="Mini stat text 3"/>
          <p:cNvSpPr txBox="1"/>
          <p:nvPr/>
        </p:nvSpPr>
        <p:spPr>
          <a:xfrm>
            <a:off x="5303520" y="53218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SELECT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 UPDATE, no SERVICE</a:t>
            </a:r>
            <a:endParaRPr lang="en-US" sz="2400" dirty="0"/>
          </a:p>
        </p:txBody>
      </p:sp>
      <p:sp>
        <p:nvSpPr>
          <p:cNvPr id="17" name="Flask /sparql route icon circle"/>
          <p:cNvSpPr/>
          <p:nvPr/>
        </p:nvSpPr>
        <p:spPr>
          <a:xfrm>
            <a:off x="777240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0" descr="Flask /sparql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0" y="1897380"/>
            <a:ext cx="320040" cy="320040"/>
          </a:xfrm>
          <a:prstGeom prst="rect">
            <a:avLst/>
          </a:prstGeom>
        </p:spPr>
      </p:pic>
      <p:sp>
        <p:nvSpPr>
          <p:cNvPr id="19" name="Feature text 1"/>
          <p:cNvSpPr txBox="1"/>
          <p:nvPr/>
        </p:nvSpPr>
        <p:spPr>
          <a:xfrm>
            <a:off x="8595360" y="1645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Flask /sparql route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 or POST with a query field; results as SPARQL JSON.</a:t>
            </a:r>
            <a:endParaRPr lang="en-US" sz="1600" dirty="0"/>
          </a:p>
        </p:txBody>
      </p:sp>
      <p:sp>
        <p:nvSpPr>
          <p:cNvPr id="20" name="RDFLib in memory icon circle"/>
          <p:cNvSpPr/>
          <p:nvPr/>
        </p:nvSpPr>
        <p:spPr>
          <a:xfrm>
            <a:off x="7772400" y="289864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1" descr="RDFLib in 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420" y="3058668"/>
            <a:ext cx="320040" cy="320040"/>
          </a:xfrm>
          <a:prstGeom prst="rect">
            <a:avLst/>
          </a:prstGeom>
        </p:spPr>
      </p:pic>
      <p:sp>
        <p:nvSpPr>
          <p:cNvPr id="22" name="Feature text 2"/>
          <p:cNvSpPr txBox="1"/>
          <p:nvPr/>
        </p:nvSpPr>
        <p:spPr>
          <a:xfrm>
            <a:off x="8595360" y="280720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RDFLib in memory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Saved Turtle loaded at startup, plus derived interface triples.</a:t>
            </a:r>
            <a:endParaRPr lang="en-US" sz="1600" dirty="0"/>
          </a:p>
        </p:txBody>
      </p:sp>
      <p:sp>
        <p:nvSpPr>
          <p:cNvPr id="23" name="Read-only by design icon circle"/>
          <p:cNvSpPr/>
          <p:nvPr/>
        </p:nvSpPr>
        <p:spPr>
          <a:xfrm>
            <a:off x="7772400" y="405993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2" descr="Read-only by de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4219956"/>
            <a:ext cx="320040" cy="320040"/>
          </a:xfrm>
          <a:prstGeom prst="rect">
            <a:avLst/>
          </a:prstGeom>
        </p:spPr>
      </p:pic>
      <p:sp>
        <p:nvSpPr>
          <p:cNvPr id="25" name="Feature text 3"/>
          <p:cNvSpPr txBox="1"/>
          <p:nvPr/>
        </p:nvSpPr>
        <p:spPr>
          <a:xfrm>
            <a:off x="8595360" y="39684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Read-only by design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UPDATE operations and SERVICE clauses are rejected.</a:t>
            </a:r>
            <a:endParaRPr lang="en-US" sz="1600" dirty="0"/>
          </a:p>
        </p:txBody>
      </p:sp>
      <p:sp>
        <p:nvSpPr>
          <p:cNvPr id="26" name="Local deployment icon circle"/>
          <p:cNvSpPr/>
          <p:nvPr/>
        </p:nvSpPr>
        <p:spPr>
          <a:xfrm>
            <a:off x="7772400" y="5221224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3" descr="Local deploy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5381244"/>
            <a:ext cx="320040" cy="320040"/>
          </a:xfrm>
          <a:prstGeom prst="rect">
            <a:avLst/>
          </a:prstGeom>
        </p:spPr>
      </p:pic>
      <p:sp>
        <p:nvSpPr>
          <p:cNvPr id="28" name="Feature text 4"/>
          <p:cNvSpPr txBox="1"/>
          <p:nvPr/>
        </p:nvSpPr>
        <p:spPr>
          <a:xfrm>
            <a:off x="8595360" y="512978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Local deployment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Hosted at 127.0.0.1:5000, not a persistent public service.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5. Conclusion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Results, limitations and next steps</a:t>
            </a:r>
            <a:endParaRPr lang="en-US" sz="1800" dirty="0"/>
          </a:p>
        </p:txBody>
      </p:sp>
      <p:sp>
        <p:nvSpPr>
          <p:cNvPr id="4" name="motif dot 1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dot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 dot 3"/>
          <p:cNvSpPr/>
          <p:nvPr/>
        </p:nvSpPr>
        <p:spPr>
          <a:xfrm>
            <a:off x="11430000" y="54864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Delivered card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9" name="Delivered 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0" descr="Delive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74320" cy="274320"/>
          </a:xfrm>
          <a:prstGeom prst="rect">
            <a:avLst/>
          </a:prstGeom>
        </p:spPr>
      </p:pic>
      <p:sp>
        <p:nvSpPr>
          <p:cNvPr id="11" name="Delivered title"/>
          <p:cNvSpPr txBox="1"/>
          <p:nvPr/>
        </p:nvSpPr>
        <p:spPr>
          <a:xfrm>
            <a:off x="155448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Delivered</a:t>
            </a:r>
            <a:endParaRPr lang="en-US" sz="2200" dirty="0"/>
          </a:p>
        </p:txBody>
      </p:sp>
      <p:sp>
        <p:nvSpPr>
          <p:cNvPr id="12" name="Delivered list"/>
          <p:cNvSpPr txBox="1"/>
          <p:nvPr/>
        </p:nvSpPr>
        <p:spPr>
          <a:xfrm>
            <a:off x="868680" y="2697480"/>
            <a:ext cx="4572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3,651 movies integrated from IMDb, Kaggle and OMDb by IMDb 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RDF graph of 645,850 triples with field-level provenance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Wikidata links for every movie; DBpedia links for 87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SHACL validation passes with zero violations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Local SPARQL endpoint with a searchable web interface</a:t>
            </a:r>
            <a:endParaRPr lang="en-US" sz="1600" dirty="0"/>
          </a:p>
        </p:txBody>
      </p:sp>
      <p:sp>
        <p:nvSpPr>
          <p:cNvPr id="13" name="Limitations card"/>
          <p:cNvSpPr/>
          <p:nvPr/>
        </p:nvSpPr>
        <p:spPr>
          <a:xfrm>
            <a:off x="5943600" y="1645920"/>
            <a:ext cx="56692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4" name="Limitations icon circle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1" descr="Limit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1954530"/>
            <a:ext cx="251460" cy="251460"/>
          </a:xfrm>
          <a:prstGeom prst="rect">
            <a:avLst/>
          </a:prstGeom>
        </p:spPr>
      </p:pic>
      <p:sp>
        <p:nvSpPr>
          <p:cNvPr id="16" name="Limitations title"/>
          <p:cNvSpPr txBox="1"/>
          <p:nvPr/>
        </p:nvSpPr>
        <p:spPr>
          <a:xfrm>
            <a:off x="690372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7" name="Limitations list"/>
          <p:cNvSpPr txBox="1"/>
          <p:nvPr/>
        </p:nvSpPr>
        <p:spPr>
          <a:xfrm>
            <a:off x="6263640" y="2514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Popularity filter: titles with more than 50,000 votes only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Movies must appear in IMDb, Kaggle and OMDb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Bounded cast extraction; partial external-link coverage</a:t>
            </a:r>
            <a:endParaRPr lang="en-US" sz="1500" dirty="0"/>
          </a:p>
        </p:txBody>
      </p:sp>
      <p:sp>
        <p:nvSpPr>
          <p:cNvPr id="18" name="Future work card"/>
          <p:cNvSpPr/>
          <p:nvPr/>
        </p:nvSpPr>
        <p:spPr>
          <a:xfrm>
            <a:off x="5943600" y="3977640"/>
            <a:ext cx="56692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sp>
        <p:nvSpPr>
          <p:cNvPr id="19" name="Future work icon circle"/>
          <p:cNvSpPr/>
          <p:nvPr/>
        </p:nvSpPr>
        <p:spPr>
          <a:xfrm>
            <a:off x="6217920" y="4160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2" descr="Future 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4286250"/>
            <a:ext cx="251460" cy="251460"/>
          </a:xfrm>
          <a:prstGeom prst="rect">
            <a:avLst/>
          </a:prstGeom>
        </p:spPr>
      </p:pic>
      <p:sp>
        <p:nvSpPr>
          <p:cNvPr id="21" name="Future title"/>
          <p:cNvSpPr txBox="1"/>
          <p:nvPr/>
        </p:nvSpPr>
        <p:spPr>
          <a:xfrm>
            <a:off x="6903720" y="4160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22" name="Future list"/>
          <p:cNvSpPr txBox="1"/>
          <p:nvPr/>
        </p:nvSpPr>
        <p:spPr>
          <a:xfrm>
            <a:off x="6263640" y="48463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Expand sources and improve entity resolution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Publish persistent, dereferenceable URIs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 a stable public SPARQL service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234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CINEGRAPH  ·  LINKED DATA FOR FILMS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7452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063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 and discussion</a:t>
            </a:r>
            <a:endParaRPr lang="en-US" sz="3000" dirty="0"/>
          </a:p>
        </p:txBody>
      </p:sp>
      <p:sp>
        <p:nvSpPr>
          <p:cNvPr id="5" name="Team"/>
          <p:cNvSpPr txBox="1"/>
          <p:nvPr/>
        </p:nvSpPr>
        <p:spPr>
          <a:xfrm>
            <a:off x="640080" y="4114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Bui Tien Dung  ·  20261204M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Pham Tuan Kiet  ·  20252751M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Luong Minh Duong  ·  20251038M</a:t>
            </a:r>
            <a:endParaRPr lang="en-US" sz="1600" dirty="0"/>
          </a:p>
        </p:txBody>
      </p:sp>
      <p:sp>
        <p:nvSpPr>
          <p:cNvPr id="6" name="Instructor"/>
          <p:cNvSpPr txBox="1"/>
          <p:nvPr/>
        </p:nvSpPr>
        <p:spPr>
          <a:xfrm>
            <a:off x="640080" y="5303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Instructor: PhD. Do Ba Lam</a:t>
            </a:r>
            <a:endParaRPr lang="en-US" sz="1400" dirty="0"/>
          </a:p>
        </p:txBody>
      </p:sp>
      <p:sp>
        <p:nvSpPr>
          <p:cNvPr id="7" name="Graph backdrop"/>
          <p:cNvSpPr/>
          <p:nvPr/>
        </p:nvSpPr>
        <p:spPr>
          <a:xfrm>
            <a:off x="6858000" y="868680"/>
            <a:ext cx="5120640" cy="51206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418320" y="1325880"/>
            <a:ext cx="0" cy="210312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0" y="2779100"/>
            <a:ext cx="2000186" cy="64990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3429000"/>
            <a:ext cx="1236183" cy="170146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182137" y="3429000"/>
            <a:ext cx="1236183" cy="170146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7418134" y="2779100"/>
            <a:ext cx="2000186" cy="64990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3" name="Node Actor"/>
          <p:cNvSpPr txBox="1"/>
          <p:nvPr/>
        </p:nvSpPr>
        <p:spPr>
          <a:xfrm>
            <a:off x="8846820" y="754380"/>
            <a:ext cx="1143000" cy="11430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Actor</a:t>
            </a:r>
            <a:endParaRPr lang="en-US" sz="1400" dirty="0"/>
          </a:p>
        </p:txBody>
      </p:sp>
      <p:sp>
        <p:nvSpPr>
          <p:cNvPr id="14" name="Node Director"/>
          <p:cNvSpPr txBox="1"/>
          <p:nvPr/>
        </p:nvSpPr>
        <p:spPr>
          <a:xfrm>
            <a:off x="10847006" y="2207600"/>
            <a:ext cx="1143000" cy="11430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Director</a:t>
            </a:r>
            <a:endParaRPr lang="en-US" sz="1400" dirty="0"/>
          </a:p>
        </p:txBody>
      </p:sp>
      <p:sp>
        <p:nvSpPr>
          <p:cNvPr id="15" name="Node Genre"/>
          <p:cNvSpPr txBox="1"/>
          <p:nvPr/>
        </p:nvSpPr>
        <p:spPr>
          <a:xfrm>
            <a:off x="10083003" y="4558960"/>
            <a:ext cx="1143000" cy="11430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Genre</a:t>
            </a:r>
            <a:endParaRPr lang="en-US" sz="1400" dirty="0"/>
          </a:p>
        </p:txBody>
      </p:sp>
      <p:sp>
        <p:nvSpPr>
          <p:cNvPr id="16" name="Node Wikidata"/>
          <p:cNvSpPr txBox="1"/>
          <p:nvPr/>
        </p:nvSpPr>
        <p:spPr>
          <a:xfrm>
            <a:off x="7610637" y="4558960"/>
            <a:ext cx="1143000" cy="11430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Wikidata</a:t>
            </a:r>
            <a:endParaRPr lang="en-US" sz="1400" dirty="0"/>
          </a:p>
        </p:txBody>
      </p:sp>
      <p:sp>
        <p:nvSpPr>
          <p:cNvPr id="17" name="Node Rating"/>
          <p:cNvSpPr txBox="1"/>
          <p:nvPr/>
        </p:nvSpPr>
        <p:spPr>
          <a:xfrm>
            <a:off x="6846634" y="2207600"/>
            <a:ext cx="1143000" cy="11430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Rating</a:t>
            </a:r>
            <a:endParaRPr lang="en-US" sz="1400" dirty="0"/>
          </a:p>
        </p:txBody>
      </p:sp>
      <p:sp>
        <p:nvSpPr>
          <p:cNvPr id="18" name="Movie node"/>
          <p:cNvSpPr/>
          <p:nvPr/>
        </p:nvSpPr>
        <p:spPr>
          <a:xfrm>
            <a:off x="8641080" y="2651760"/>
            <a:ext cx="1554480" cy="155448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340">
                <a:alpha val="12000"/>
              </a:srgbClr>
            </a:outerShdw>
          </a:effectLst>
        </p:spPr>
      </p:sp>
      <p:pic>
        <p:nvPicPr>
          <p:cNvPr id="19" name="Image 0" descr="Fil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0632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neGraph Light">
  <a:themeElements>
    <a:clrScheme name="CineGraph Light">
      <a:dk1>
        <a:srgbClr val="1B2340"/>
      </a:dk1>
      <a:lt1>
        <a:srgbClr val="FFFFFF"/>
      </a:lt1>
      <a:dk2>
        <a:srgbClr val="2B3A67"/>
      </a:dk2>
      <a:lt2>
        <a:srgbClr val="F3F6FB"/>
      </a:lt2>
      <a:accent1>
        <a:srgbClr val="F2A900"/>
      </a:accent1>
      <a:accent2>
        <a:srgbClr val="0B7F7C"/>
      </a:accent2>
      <a:accent3>
        <a:srgbClr val="D9482B"/>
      </a:accent3>
      <a:accent4>
        <a:srgbClr val="4C6FFF"/>
      </a:accent4>
      <a:accent5>
        <a:srgbClr val="7A869A"/>
      </a:accent5>
      <a:accent6>
        <a:srgbClr val="8FD3C9"/>
      </a:accent6>
      <a:hlink>
        <a:srgbClr val="0B7F7C"/>
      </a:hlink>
      <a:folHlink>
        <a:srgbClr val="7A869A"/>
      </a:folHlink>
    </a:clrScheme>
    <a:fontScheme name="CineGraph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CineGraph: Linked Data for Films</dc:title>
  <dc:subject>PptxGenJS Presentation</dc:subject>
  <dc:creator>Bui Tien Dung, Pham Tuan Kiet, Luong Minh Duong</dc:creator>
  <cp:lastModifiedBy>Bui Tien Dung, Pham Tuan Kiet, Luong Minh Duong</cp:lastModifiedBy>
  <cp:revision>1</cp:revision>
  <dcterms:created xsi:type="dcterms:W3CDTF">2026-10-07T18:21:18Z</dcterms:created>
  <dcterms:modified xsi:type="dcterms:W3CDTF">2026-10-07T18:21:18Z</dcterms:modified>
</cp:coreProperties>
</file>